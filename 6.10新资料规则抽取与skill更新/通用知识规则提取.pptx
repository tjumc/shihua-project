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.bin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9" Type="http://schemas.openxmlformats.org/officeDocument/2006/relationships/vmlDrawing" Target="../drawings/vmlDrawing1.v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64.xml"/><Relationship Id="rId16" Type="http://schemas.openxmlformats.org/officeDocument/2006/relationships/image" Target="../media/image10.png"/><Relationship Id="rId15" Type="http://schemas.openxmlformats.org/officeDocument/2006/relationships/oleObject" Target="../embeddings/oleObject5.bin"/><Relationship Id="rId14" Type="http://schemas.openxmlformats.org/officeDocument/2006/relationships/image" Target="../media/image9.png"/><Relationship Id="rId13" Type="http://schemas.openxmlformats.org/officeDocument/2006/relationships/image" Target="../media/image8.png"/><Relationship Id="rId12" Type="http://schemas.openxmlformats.org/officeDocument/2006/relationships/oleObject" Target="../embeddings/oleObject4.bin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0"/>
            <a:ext cx="3917950" cy="6731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66700"/>
            <a:r>
              <a:rPr lang="zh-CN" altLang="en-US" b="1" dirty="0">
                <a:sym typeface="+mn-ea"/>
              </a:rPr>
              <a:t>一、石化调度</a:t>
            </a:r>
            <a:r>
              <a:rPr lang="zh-CN" altLang="en-US" b="1" dirty="0">
                <a:sym typeface="+mn-ea"/>
              </a:rPr>
              <a:t>通用知识规则库构建</a:t>
            </a:r>
            <a:endParaRPr lang="zh-CN" altLang="en-US" b="1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59715" y="1177290"/>
          <a:ext cx="11811000" cy="5582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2362200"/>
                <a:gridCol w="2362200"/>
                <a:gridCol w="2362200"/>
                <a:gridCol w="2362200"/>
              </a:tblGrid>
              <a:tr h="3943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质量标准规则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工艺规范规则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流程特征规则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操作规程规则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调度经验规则</a:t>
                      </a:r>
                      <a:endParaRPr lang="zh-CN" altLang="en-US"/>
                    </a:p>
                  </a:txBody>
                  <a:tcPr anchor="ctr"/>
                </a:tc>
              </a:tr>
              <a:tr h="29635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105854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11658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矩形 20"/>
          <p:cNvSpPr/>
          <p:nvPr/>
        </p:nvSpPr>
        <p:spPr>
          <a:xfrm>
            <a:off x="259080" y="4629785"/>
            <a:ext cx="11812270" cy="6731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（规则源文件如下，双击可打开查看）</a:t>
            </a:r>
            <a:endParaRPr lang="zh-CN" altLang="en-US" sz="20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9715" y="788035"/>
            <a:ext cx="6096000" cy="40449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zh-CN" altLang="en-US" sz="1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+mn-ea"/>
              </a:rPr>
              <a:t>成果展示：</a:t>
            </a:r>
            <a:endParaRPr lang="zh-CN" altLang="en-US" sz="1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+mn-ea"/>
            </a:endParaRPr>
          </a:p>
        </p:txBody>
      </p:sp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099425" y="5750243"/>
          <a:ext cx="883920" cy="88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" imgW="1524000" imgH="1524000" progId="Package">
                  <p:embed/>
                </p:oleObj>
              </mc:Choice>
              <mc:Fallback>
                <p:oleObj name="" showAsIcon="1" r:id="rId2" imgW="1524000" imgH="15240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99425" y="5750243"/>
                        <a:ext cx="883920" cy="883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415" y="1929130"/>
            <a:ext cx="2291715" cy="243205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rcRect r="6187"/>
          <a:stretch>
            <a:fillRect/>
          </a:stretch>
        </p:blipFill>
        <p:spPr>
          <a:xfrm>
            <a:off x="9749155" y="1929130"/>
            <a:ext cx="2291715" cy="2432050"/>
          </a:xfrm>
          <a:prstGeom prst="rect">
            <a:avLst/>
          </a:prstGeom>
        </p:spPr>
      </p:pic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56545" y="5750243"/>
          <a:ext cx="883920" cy="88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6" imgW="1524000" imgH="1524000" progId="Package">
                  <p:embed/>
                </p:oleObj>
              </mc:Choice>
              <mc:Fallback>
                <p:oleObj name="" showAsIcon="1" r:id="rId6" imgW="1524000" imgH="1524000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56545" y="5750243"/>
                        <a:ext cx="883920" cy="883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5590" y="1847215"/>
            <a:ext cx="2052320" cy="2652395"/>
          </a:xfrm>
          <a:prstGeom prst="rect">
            <a:avLst/>
          </a:prstGeom>
        </p:spPr>
      </p:pic>
      <p:graphicFrame>
        <p:nvGraphicFramePr>
          <p:cNvPr id="28" name="对象 2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60750" y="5750243"/>
          <a:ext cx="883920" cy="88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showAsIcon="1" r:id="rId9" imgW="1524000" imgH="1524000" progId="Package">
                  <p:embed/>
                </p:oleObj>
              </mc:Choice>
              <mc:Fallback>
                <p:oleObj name="" showAsIcon="1" r:id="rId9" imgW="1524000" imgH="1524000" progId="Package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60750" y="5750243"/>
                        <a:ext cx="883920" cy="883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图片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7935" y="1929130"/>
            <a:ext cx="2185670" cy="2432685"/>
          </a:xfrm>
          <a:prstGeom prst="rect">
            <a:avLst/>
          </a:prstGeom>
        </p:spPr>
      </p:pic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39130" y="5750243"/>
          <a:ext cx="883920" cy="88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showAsIcon="1" r:id="rId12" imgW="1524000" imgH="1524000" progId="Package">
                  <p:embed/>
                </p:oleObj>
              </mc:Choice>
              <mc:Fallback>
                <p:oleObj name="" showAsIcon="1" r:id="rId12" imgW="1524000" imgH="1524000" progId="Package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39130" y="5750243"/>
                        <a:ext cx="883920" cy="883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图片 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8450" y="1733550"/>
            <a:ext cx="2273935" cy="2879725"/>
          </a:xfrm>
          <a:prstGeom prst="rect">
            <a:avLst/>
          </a:prstGeom>
        </p:spPr>
      </p:pic>
      <p:graphicFrame>
        <p:nvGraphicFramePr>
          <p:cNvPr id="32" name="对象 3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64565" y="5750243"/>
          <a:ext cx="883920" cy="88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showAsIcon="1" r:id="rId15" imgW="1524000" imgH="1524000" progId="Package">
                  <p:embed/>
                </p:oleObj>
              </mc:Choice>
              <mc:Fallback>
                <p:oleObj name="" showAsIcon="1" r:id="rId15" imgW="1524000" imgH="1524000" progId="Package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64565" y="5750243"/>
                        <a:ext cx="883920" cy="883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591185" y="5286693"/>
            <a:ext cx="1572260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共：</a:t>
            </a:r>
            <a:r>
              <a:rPr lang="en-US" altLang="zh-CN"/>
              <a:t>105</a:t>
            </a:r>
            <a:r>
              <a:rPr lang="zh-CN" altLang="en-US"/>
              <a:t>条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59080" y="4726940"/>
            <a:ext cx="11812270" cy="4692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sym typeface="+mn-ea"/>
              </a:rPr>
              <a:t>（规则源文件如下，双击可打开查看）</a:t>
            </a:r>
            <a:endParaRPr lang="zh-CN" altLang="en-US" sz="20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186670" y="5286693"/>
            <a:ext cx="1572260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135</a:t>
            </a:r>
            <a:endParaRPr lang="en-US" altLang="zh-CN"/>
          </a:p>
        </p:txBody>
      </p:sp>
      <p:sp>
        <p:nvSpPr>
          <p:cNvPr id="37" name="文本框 36"/>
          <p:cNvSpPr txBox="1"/>
          <p:nvPr/>
        </p:nvSpPr>
        <p:spPr>
          <a:xfrm>
            <a:off x="7743825" y="5286693"/>
            <a:ext cx="1572260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125</a:t>
            </a:r>
            <a:endParaRPr lang="en-US" altLang="zh-CN"/>
          </a:p>
        </p:txBody>
      </p:sp>
      <p:sp>
        <p:nvSpPr>
          <p:cNvPr id="38" name="文本框 37"/>
          <p:cNvSpPr txBox="1"/>
          <p:nvPr/>
        </p:nvSpPr>
        <p:spPr>
          <a:xfrm>
            <a:off x="5300980" y="5286693"/>
            <a:ext cx="1572260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105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3055620" y="5286693"/>
            <a:ext cx="1572260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155</a:t>
            </a:r>
            <a:endParaRPr lang="en-US" altLang="zh-CN"/>
          </a:p>
        </p:txBody>
      </p:sp>
    </p:spTree>
    <p:custDataLst>
      <p:tags r:id="rId1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930*429"/>
  <p:tag name="TABLE_ENDDRAG_RECT" val="20*92*930*429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WPS 文字</Application>
  <PresentationFormat>宽屏</PresentationFormat>
  <Paragraphs>28</Paragraphs>
  <Slides>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汉仪书宋二KW</vt:lpstr>
      <vt:lpstr>宋体</vt:lpstr>
      <vt:lpstr>Arial Unicode MS</vt:lpstr>
      <vt:lpstr>Times New Roman</vt:lpstr>
      <vt:lpstr>WPS</vt:lpstr>
      <vt:lpstr>Package</vt:lpstr>
      <vt:lpstr>Package</vt:lpstr>
      <vt:lpstr>Package</vt:lpstr>
      <vt:lpstr>Package</vt:lpstr>
      <vt:lpstr>Package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同舟共济</cp:lastModifiedBy>
  <cp:revision>188</cp:revision>
  <dcterms:created xsi:type="dcterms:W3CDTF">2026-06-18T01:41:45Z</dcterms:created>
  <dcterms:modified xsi:type="dcterms:W3CDTF">2026-06-18T01:41:45Z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7AA09243A30CA5ADF548336A9D8BB139_41</vt:lpwstr>
  </property>
</Properties>
</file>